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92" r:id="rId3"/>
    <p:sldId id="269" r:id="rId4"/>
    <p:sldId id="288" r:id="rId5"/>
    <p:sldId id="290" r:id="rId6"/>
    <p:sldId id="306" r:id="rId7"/>
    <p:sldId id="268" r:id="rId8"/>
    <p:sldId id="280" r:id="rId9"/>
    <p:sldId id="295" r:id="rId10"/>
    <p:sldId id="278" r:id="rId11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40000"/>
    <a:srgbClr val="F5A300"/>
    <a:srgbClr val="2E2EFB"/>
    <a:srgbClr val="00CC00"/>
    <a:srgbClr val="7B0000"/>
    <a:srgbClr val="00B050"/>
    <a:srgbClr val="CCC2B8"/>
    <a:srgbClr val="D7D3D4"/>
    <a:srgbClr val="9E9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1" autoAdjust="0"/>
    <p:restoredTop sz="95033" autoAdjust="0"/>
  </p:normalViewPr>
  <p:slideViewPr>
    <p:cSldViewPr snapToObjects="1" showGuides="1">
      <p:cViewPr varScale="1">
        <p:scale>
          <a:sx n="140" d="100"/>
          <a:sy n="140" d="100"/>
        </p:scale>
        <p:origin x="126" y="3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BF52CA6D-F34F-4BCE-AC2C-27AD29D4161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90500" y="387350"/>
            <a:ext cx="54038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ts val="1300"/>
              </a:lnSpc>
              <a:defRPr sz="1000" b="1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E1C23756-E966-4DDF-9706-E3F82D489E6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90500" y="8567738"/>
            <a:ext cx="13303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fld id="{A99F611C-575C-4834-9C2A-51245EF7EACB}" type="datetime4">
              <a:rPr lang="de-DE"/>
              <a:pPr>
                <a:defRPr/>
              </a:pPr>
              <a:t>18. Oktober 2026</a:t>
            </a:fld>
            <a:endParaRPr lang="de-DE"/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60A8F69D-799E-4809-A3CB-A83076B2CFF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520825" y="8567738"/>
            <a:ext cx="44640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r>
              <a:rPr lang="de-DE"/>
              <a:t>|  </a:t>
            </a:r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01932BEB-430A-42A6-8F70-9A312E292F6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999163" y="8567738"/>
            <a:ext cx="6699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Stafford" panose="00000400000000000000" pitchFamily="2" charset="0"/>
              </a:defRPr>
            </a:lvl1pPr>
          </a:lstStyle>
          <a:p>
            <a:r>
              <a:rPr lang="de-DE" altLang="de-DE"/>
              <a:t>|  </a:t>
            </a:r>
            <a:fld id="{FD9BFB44-02B7-4F5A-9510-D6A7EC1ADE92}" type="slidenum">
              <a:rPr lang="de-DE" altLang="de-DE"/>
              <a:pPr/>
              <a:t>‹Nr.›</a:t>
            </a:fld>
            <a:endParaRPr lang="de-DE" altLang="de-DE"/>
          </a:p>
        </p:txBody>
      </p:sp>
      <p:pic>
        <p:nvPicPr>
          <p:cNvPr id="5126" name="Picture 6" descr="tud_logo">
            <a:extLst>
              <a:ext uri="{FF2B5EF4-FFF2-40B4-BE49-F238E27FC236}">
                <a16:creationId xmlns:a16="http://schemas.microsoft.com/office/drawing/2014/main" id="{590072C5-8688-49DE-A490-18B1E548B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0" y="360363"/>
            <a:ext cx="928688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Rectangle 7">
            <a:extLst>
              <a:ext uri="{FF2B5EF4-FFF2-40B4-BE49-F238E27FC236}">
                <a16:creationId xmlns:a16="http://schemas.microsoft.com/office/drawing/2014/main" id="{9318DC75-C84B-4C0F-B4D9-05403E87F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179388"/>
            <a:ext cx="6478588" cy="144462"/>
          </a:xfrm>
          <a:prstGeom prst="rect">
            <a:avLst/>
          </a:pr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5128" name="Line 8">
            <a:extLst>
              <a:ext uri="{FF2B5EF4-FFF2-40B4-BE49-F238E27FC236}">
                <a16:creationId xmlns:a16="http://schemas.microsoft.com/office/drawing/2014/main" id="{C37880C4-2BBD-4E30-B382-A047EC7AC2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" y="360363"/>
            <a:ext cx="6478588" cy="0"/>
          </a:xfrm>
          <a:prstGeom prst="line">
            <a:avLst/>
          </a:prstGeom>
          <a:noFill/>
          <a:ln w="1524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129" name="Line 9">
            <a:extLst>
              <a:ext uri="{FF2B5EF4-FFF2-40B4-BE49-F238E27FC236}">
                <a16:creationId xmlns:a16="http://schemas.microsoft.com/office/drawing/2014/main" id="{2599EBF7-9DEC-4FEF-B15E-9E64BA718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" y="8496300"/>
            <a:ext cx="6478588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130" name="Line 10">
            <a:extLst>
              <a:ext uri="{FF2B5EF4-FFF2-40B4-BE49-F238E27FC236}">
                <a16:creationId xmlns:a16="http://schemas.microsoft.com/office/drawing/2014/main" id="{41EA1A19-A695-42C7-B18B-A764FACF3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913" y="777875"/>
            <a:ext cx="6478587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3" descr="tud_logo">
            <a:extLst>
              <a:ext uri="{FF2B5EF4-FFF2-40B4-BE49-F238E27FC236}">
                <a16:creationId xmlns:a16="http://schemas.microsoft.com/office/drawing/2014/main" id="{234DAB62-2175-4858-AD67-FD349A96E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463" y="360363"/>
            <a:ext cx="935037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>
            <a:extLst>
              <a:ext uri="{FF2B5EF4-FFF2-40B4-BE49-F238E27FC236}">
                <a16:creationId xmlns:a16="http://schemas.microsoft.com/office/drawing/2014/main" id="{16EFB971-CED3-415E-A4EE-9417C55F284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88913" y="8685213"/>
            <a:ext cx="1619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ts val="1300"/>
              </a:lnSpc>
              <a:defRPr sz="1000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fld id="{457AE8EF-E871-46D0-AD98-1F6D460EB5F2}" type="datetime4">
              <a:rPr lang="de-DE"/>
              <a:pPr>
                <a:defRPr/>
              </a:pPr>
              <a:t>18. Oktober 2026</a:t>
            </a:fld>
            <a:endParaRPr lang="de-DE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3551BEFF-595F-4814-9A9F-89A6D460C89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88975" y="923925"/>
            <a:ext cx="5461000" cy="30718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6D595CD-BAFD-49BF-861C-6D329C9BFF3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90500" y="4284663"/>
            <a:ext cx="6477000" cy="428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7D9B6B0-3B95-4D8E-9A94-64E186FA48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808163" y="8685213"/>
            <a:ext cx="4105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ts val="1300"/>
              </a:lnSpc>
              <a:defRPr sz="1000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r>
              <a:rPr lang="de-DE"/>
              <a:t>|  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15CA2C80-7CB2-4CFA-B183-9B23BFCE57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13438" y="8685213"/>
            <a:ext cx="942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ts val="1300"/>
              </a:lnSpc>
              <a:defRPr sz="1000">
                <a:latin typeface="Stafford" panose="00000400000000000000" pitchFamily="2" charset="0"/>
              </a:defRPr>
            </a:lvl1pPr>
          </a:lstStyle>
          <a:p>
            <a:r>
              <a:rPr lang="de-DE" altLang="de-DE"/>
              <a:t>|  </a:t>
            </a:r>
            <a:fld id="{E526A819-9FA5-480B-AA80-B0EE2CE4290D}" type="slidenum">
              <a:rPr lang="de-DE" altLang="de-DE"/>
              <a:pPr/>
              <a:t>‹Nr.›</a:t>
            </a:fld>
            <a:endParaRPr lang="de-DE" altLang="de-DE"/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68585946-9504-4C79-A243-8C17C2457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387350"/>
            <a:ext cx="540385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1300"/>
              </a:lnSpc>
              <a:defRPr/>
            </a:pPr>
            <a:endParaRPr lang="de-DE" altLang="de-DE" sz="1000" b="1">
              <a:latin typeface="Stafford" pitchFamily="2" charset="0"/>
            </a:endParaRP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FECE2218-2F32-4E01-B171-7D5DFCCAD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179388"/>
            <a:ext cx="6478588" cy="144462"/>
          </a:xfrm>
          <a:prstGeom prst="rect">
            <a:avLst/>
          </a:pr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4106" name="Line 10">
            <a:extLst>
              <a:ext uri="{FF2B5EF4-FFF2-40B4-BE49-F238E27FC236}">
                <a16:creationId xmlns:a16="http://schemas.microsoft.com/office/drawing/2014/main" id="{FA59C84D-5D3E-4007-97FD-908FEC98F0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" y="360363"/>
            <a:ext cx="6478588" cy="0"/>
          </a:xfrm>
          <a:prstGeom prst="line">
            <a:avLst/>
          </a:prstGeom>
          <a:noFill/>
          <a:ln w="1524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4107" name="Line 11">
            <a:extLst>
              <a:ext uri="{FF2B5EF4-FFF2-40B4-BE49-F238E27FC236}">
                <a16:creationId xmlns:a16="http://schemas.microsoft.com/office/drawing/2014/main" id="{74D129A1-E2D2-4949-B6C9-C1467FEDA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" y="781050"/>
            <a:ext cx="6478588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4108" name="Line 12">
            <a:extLst>
              <a:ext uri="{FF2B5EF4-FFF2-40B4-BE49-F238E27FC236}">
                <a16:creationId xmlns:a16="http://schemas.microsoft.com/office/drawing/2014/main" id="{BE7D3108-39A9-4436-AA29-502561181A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" y="8685213"/>
            <a:ext cx="6478588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4109" name="Line 14">
            <a:extLst>
              <a:ext uri="{FF2B5EF4-FFF2-40B4-BE49-F238E27FC236}">
                <a16:creationId xmlns:a16="http://schemas.microsoft.com/office/drawing/2014/main" id="{479DDD7D-9D8A-4C13-9DEE-A5501FE9E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913" y="4103688"/>
            <a:ext cx="6478587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1pPr>
    <a:lvl2pPr marL="457200"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2pPr>
    <a:lvl3pPr marL="914400"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3pPr>
    <a:lvl4pPr marL="1371600"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4pPr>
    <a:lvl5pPr marL="1828800"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introduction</a:t>
            </a:r>
            <a:endParaRPr lang="de-DE" dirty="0"/>
          </a:p>
          <a:p>
            <a:r>
              <a:rPr lang="de-DE" dirty="0"/>
              <a:t>Right: Laser </a:t>
            </a:r>
            <a:r>
              <a:rPr lang="de-DE" dirty="0" err="1"/>
              <a:t>system</a:t>
            </a:r>
            <a:endParaRPr lang="de-DE" dirty="0"/>
          </a:p>
          <a:p>
            <a:r>
              <a:rPr lang="de-DE" dirty="0" err="1"/>
              <a:t>Left</a:t>
            </a:r>
            <a:r>
              <a:rPr lang="de-DE" dirty="0"/>
              <a:t>: </a:t>
            </a:r>
            <a:r>
              <a:rPr lang="de-DE" dirty="0" err="1"/>
              <a:t>Frequenzshift</a:t>
            </a:r>
            <a:r>
              <a:rPr lang="de-DE" dirty="0"/>
              <a:t> </a:t>
            </a:r>
            <a:r>
              <a:rPr lang="de-DE" dirty="0" err="1"/>
              <a:t>board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Simon B.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57AE8EF-E871-46D0-AD98-1F6D460EB5F2}" type="datetime4">
              <a:rPr lang="de-DE" smtClean="0"/>
              <a:pPr>
                <a:defRPr/>
              </a:pPr>
              <a:t>18. Oktober 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altLang="de-DE"/>
              <a:t>|  </a:t>
            </a:r>
            <a:fld id="{E526A819-9FA5-480B-AA80-B0EE2CE4290D}" type="slidenum">
              <a:rPr lang="de-DE" altLang="de-DE" smtClean="0"/>
              <a:pPr/>
              <a:t>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8431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28592-A82F-8A56-3286-83F4D5663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0D92F3E-36CB-7197-0BAE-B3231D9AF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8A50CEE-9E6B-F3D1-8379-78429CBD8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Quips</a:t>
            </a:r>
            <a:r>
              <a:rPr lang="de-DE" dirty="0"/>
              <a:t> Cs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goal</a:t>
            </a:r>
            <a:r>
              <a:rPr lang="de-DE" dirty="0"/>
              <a:t>: Single </a:t>
            </a:r>
            <a:r>
              <a:rPr lang="de-DE" dirty="0" err="1"/>
              <a:t>qubit</a:t>
            </a:r>
            <a:r>
              <a:rPr lang="de-DE" dirty="0"/>
              <a:t> </a:t>
            </a:r>
            <a:r>
              <a:rPr lang="de-DE" dirty="0" err="1"/>
              <a:t>gate</a:t>
            </a:r>
            <a:r>
              <a:rPr lang="de-DE" dirty="0"/>
              <a:t> </a:t>
            </a:r>
            <a:r>
              <a:rPr lang="de-DE" dirty="0" err="1"/>
              <a:t>operations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Excitation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0 to1 </a:t>
            </a:r>
            <a:r>
              <a:rPr lang="de-DE" dirty="0" err="1"/>
              <a:t>with</a:t>
            </a:r>
            <a:r>
              <a:rPr lang="de-DE" dirty="0"/>
              <a:t> 3,035GHz </a:t>
            </a:r>
            <a:r>
              <a:rPr lang="de-DE" dirty="0" err="1"/>
              <a:t>frequency</a:t>
            </a:r>
            <a:r>
              <a:rPr lang="de-DE" dirty="0"/>
              <a:t>-&gt; </a:t>
            </a:r>
            <a:r>
              <a:rPr lang="de-DE" dirty="0" err="1"/>
              <a:t>Microwave</a:t>
            </a:r>
            <a:r>
              <a:rPr lang="de-DE" dirty="0"/>
              <a:t> not possible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excitation</a:t>
            </a:r>
            <a:endParaRPr lang="de-DE" dirty="0"/>
          </a:p>
          <a:p>
            <a:endParaRPr lang="de-DE" dirty="0"/>
          </a:p>
          <a:p>
            <a:r>
              <a:rPr lang="de-DE" dirty="0"/>
              <a:t>Old </a:t>
            </a:r>
            <a:r>
              <a:rPr lang="de-DE" dirty="0" err="1"/>
              <a:t>system</a:t>
            </a:r>
            <a:r>
              <a:rPr lang="de-DE" dirty="0"/>
              <a:t>: 2 ECDLs </a:t>
            </a:r>
            <a:r>
              <a:rPr lang="de-DE" dirty="0" err="1"/>
              <a:t>built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Max Werner and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Timon</a:t>
            </a:r>
            <a:r>
              <a:rPr lang="de-DE" dirty="0"/>
              <a:t> Scheiber, Tobias Schreiber-&gt; </a:t>
            </a:r>
            <a:r>
              <a:rPr lang="de-DE" dirty="0" err="1"/>
              <a:t>Sucessfull</a:t>
            </a:r>
            <a:r>
              <a:rPr lang="de-DE" dirty="0"/>
              <a:t> </a:t>
            </a:r>
            <a:r>
              <a:rPr lang="de-DE" dirty="0" err="1"/>
              <a:t>operations</a:t>
            </a:r>
            <a:endParaRPr lang="de-DE" dirty="0"/>
          </a:p>
          <a:p>
            <a:endParaRPr lang="de-DE" dirty="0"/>
          </a:p>
          <a:p>
            <a:r>
              <a:rPr lang="de-DE" dirty="0"/>
              <a:t>New </a:t>
            </a:r>
            <a:r>
              <a:rPr lang="de-DE" dirty="0" err="1"/>
              <a:t>system</a:t>
            </a:r>
            <a:r>
              <a:rPr lang="de-DE" dirty="0"/>
              <a:t>: Higher power 10mW-&gt;400 mW</a:t>
            </a:r>
          </a:p>
          <a:p>
            <a:endParaRPr lang="de-DE" dirty="0"/>
          </a:p>
          <a:p>
            <a:r>
              <a:rPr lang="de-DE" dirty="0"/>
              <a:t>Sapphire groß?</a:t>
            </a:r>
          </a:p>
          <a:p>
            <a:r>
              <a:rPr lang="de-DE" dirty="0"/>
              <a:t>Kein </a:t>
            </a:r>
            <a:r>
              <a:rPr lang="de-DE" dirty="0" err="1"/>
              <a:t>Replacement</a:t>
            </a:r>
            <a:r>
              <a:rPr lang="de-DE" dirty="0"/>
              <a:t>, neuer Ansatz</a:t>
            </a:r>
          </a:p>
          <a:p>
            <a:r>
              <a:rPr lang="de-DE" dirty="0"/>
              <a:t>8W weg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E323C2-E35A-56F5-A2B9-FFF46070DE2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57AE8EF-E871-46D0-AD98-1F6D460EB5F2}" type="datetime4">
              <a:rPr lang="de-DE" smtClean="0"/>
              <a:pPr>
                <a:defRPr/>
              </a:pPr>
              <a:t>18. Oktober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DB99EC-D038-0878-8027-818E4139C7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C8C205-14FC-2CD8-C113-8BAA6E629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altLang="de-DE"/>
              <a:t>|  </a:t>
            </a:r>
            <a:fld id="{E526A819-9FA5-480B-AA80-B0EE2CE4290D}" type="slidenum">
              <a:rPr lang="de-DE" altLang="de-DE" smtClean="0"/>
              <a:pPr/>
              <a:t>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86068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else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done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raman</a:t>
            </a:r>
            <a:r>
              <a:rPr lang="de-DE" dirty="0"/>
              <a:t> </a:t>
            </a:r>
            <a:r>
              <a:rPr lang="de-DE" dirty="0" err="1"/>
              <a:t>laser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?</a:t>
            </a:r>
          </a:p>
          <a:p>
            <a:endParaRPr lang="de-DE" dirty="0"/>
          </a:p>
          <a:p>
            <a:r>
              <a:rPr lang="de-DE" dirty="0"/>
              <a:t>Werte weg</a:t>
            </a:r>
          </a:p>
          <a:p>
            <a:r>
              <a:rPr lang="de-DE" dirty="0"/>
              <a:t>Nacheinander jeden mf gepumpt</a:t>
            </a:r>
          </a:p>
          <a:p>
            <a:r>
              <a:rPr lang="de-DE" dirty="0"/>
              <a:t>Nacheinander schritt für schritt die Frequenz moduliert</a:t>
            </a:r>
          </a:p>
          <a:p>
            <a:endParaRPr lang="de-DE" dirty="0"/>
          </a:p>
          <a:p>
            <a:r>
              <a:rPr lang="de-DE" dirty="0"/>
              <a:t>Altes Pumpschema als Vergleich nennen</a:t>
            </a:r>
          </a:p>
          <a:p>
            <a:r>
              <a:rPr lang="de-DE" dirty="0"/>
              <a:t>Vergleich Pump-effizienzen</a:t>
            </a:r>
          </a:p>
          <a:p>
            <a:endParaRPr lang="de-DE" dirty="0"/>
          </a:p>
          <a:p>
            <a:r>
              <a:rPr lang="de-DE" dirty="0" err="1"/>
              <a:t>Cavity</a:t>
            </a:r>
            <a:r>
              <a:rPr lang="de-DE" dirty="0"/>
              <a:t> bei EOM </a:t>
            </a:r>
            <a:r>
              <a:rPr lang="de-DE" dirty="0" err="1"/>
              <a:t>schift</a:t>
            </a:r>
            <a:r>
              <a:rPr lang="de-DE" dirty="0"/>
              <a:t> neu locken doof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57AE8EF-E871-46D0-AD98-1F6D460EB5F2}" type="datetime4">
              <a:rPr lang="de-DE" smtClean="0"/>
              <a:pPr>
                <a:defRPr/>
              </a:pPr>
              <a:t>18. Oktober 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altLang="de-DE"/>
              <a:t>|  </a:t>
            </a:r>
            <a:fld id="{E526A819-9FA5-480B-AA80-B0EE2CE4290D}" type="slidenum">
              <a:rPr lang="de-DE" altLang="de-DE" smtClean="0"/>
              <a:pPr/>
              <a:t>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58338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Vorher Präparation nennen, </a:t>
            </a:r>
            <a:r>
              <a:rPr lang="de-DE" dirty="0" err="1"/>
              <a:t>evtl</a:t>
            </a:r>
            <a:r>
              <a:rPr lang="de-DE" dirty="0"/>
              <a:t> Pumpschema </a:t>
            </a:r>
            <a:r>
              <a:rPr lang="de-DE" dirty="0" err="1"/>
              <a:t>bild</a:t>
            </a:r>
            <a:r>
              <a:rPr lang="de-DE" dirty="0"/>
              <a:t> </a:t>
            </a:r>
            <a:r>
              <a:rPr lang="de-DE" dirty="0" err="1"/>
              <a:t>dazuu</a:t>
            </a:r>
            <a:endParaRPr lang="de-DE" dirty="0"/>
          </a:p>
          <a:p>
            <a:r>
              <a:rPr lang="de-DE" dirty="0"/>
              <a:t>First global </a:t>
            </a:r>
            <a:r>
              <a:rPr lang="de-DE" dirty="0" err="1"/>
              <a:t>Rabii</a:t>
            </a:r>
            <a:r>
              <a:rPr lang="de-DE" dirty="0"/>
              <a:t> </a:t>
            </a:r>
            <a:r>
              <a:rPr lang="de-DE" dirty="0" err="1"/>
              <a:t>oscillations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determining</a:t>
            </a:r>
            <a:r>
              <a:rPr lang="de-DE" dirty="0"/>
              <a:t> Rabi </a:t>
            </a:r>
            <a:r>
              <a:rPr lang="de-DE" dirty="0" err="1"/>
              <a:t>frequency</a:t>
            </a:r>
            <a:r>
              <a:rPr lang="de-DE" dirty="0"/>
              <a:t>-&gt; </a:t>
            </a:r>
            <a:r>
              <a:rPr lang="de-DE" dirty="0" err="1"/>
              <a:t>Intensity</a:t>
            </a:r>
            <a:r>
              <a:rPr lang="de-DE" dirty="0"/>
              <a:t> and pulse </a:t>
            </a:r>
            <a:r>
              <a:rPr lang="de-DE" dirty="0" err="1"/>
              <a:t>length</a:t>
            </a:r>
            <a:r>
              <a:rPr lang="de-DE" dirty="0"/>
              <a:t> </a:t>
            </a:r>
          </a:p>
          <a:p>
            <a:r>
              <a:rPr lang="de-DE" dirty="0" err="1"/>
              <a:t>Then</a:t>
            </a:r>
            <a:r>
              <a:rPr lang="de-DE" dirty="0"/>
              <a:t> global </a:t>
            </a:r>
            <a:r>
              <a:rPr lang="de-DE" dirty="0" err="1"/>
              <a:t>gate</a:t>
            </a:r>
            <a:r>
              <a:rPr lang="de-DE" dirty="0"/>
              <a:t> </a:t>
            </a:r>
            <a:r>
              <a:rPr lang="de-DE" dirty="0" err="1"/>
              <a:t>operations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57AE8EF-E871-46D0-AD98-1F6D460EB5F2}" type="datetime4">
              <a:rPr lang="de-DE" smtClean="0"/>
              <a:pPr>
                <a:defRPr/>
              </a:pPr>
              <a:t>18. Oktober 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altLang="de-DE"/>
              <a:t>|  </a:t>
            </a:r>
            <a:fld id="{E526A819-9FA5-480B-AA80-B0EE2CE4290D}" type="slidenum">
              <a:rPr lang="de-DE" altLang="de-DE" smtClean="0"/>
              <a:pPr/>
              <a:t>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86607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Building al </a:t>
            </a:r>
            <a:r>
              <a:rPr lang="de-DE" dirty="0" err="1"/>
              <a:t>local</a:t>
            </a:r>
            <a:r>
              <a:rPr lang="de-DE" dirty="0"/>
              <a:t> Raman </a:t>
            </a:r>
            <a:r>
              <a:rPr lang="de-DE" dirty="0" err="1"/>
              <a:t>laser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board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addressing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atoms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multitone AODs</a:t>
            </a:r>
          </a:p>
          <a:p>
            <a:endParaRPr lang="de-DE" dirty="0"/>
          </a:p>
          <a:p>
            <a:r>
              <a:rPr lang="de-DE" dirty="0"/>
              <a:t>Moritz </a:t>
            </a:r>
            <a:r>
              <a:rPr lang="de-DE" dirty="0" err="1"/>
              <a:t>Domack</a:t>
            </a:r>
            <a:r>
              <a:rPr lang="de-DE" dirty="0"/>
              <a:t> hat neuere Version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57AE8EF-E871-46D0-AD98-1F6D460EB5F2}" type="datetime4">
              <a:rPr lang="de-DE" smtClean="0"/>
              <a:pPr>
                <a:defRPr/>
              </a:pPr>
              <a:t>18. Oktober 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altLang="de-DE"/>
              <a:t>|  </a:t>
            </a:r>
            <a:fld id="{E526A819-9FA5-480B-AA80-B0EE2CE4290D}" type="slidenum">
              <a:rPr lang="de-DE" altLang="de-DE" smtClean="0"/>
              <a:pPr/>
              <a:t>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6753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57AE8EF-E871-46D0-AD98-1F6D460EB5F2}" type="datetime4">
              <a:rPr lang="de-DE" smtClean="0"/>
              <a:pPr>
                <a:defRPr/>
              </a:pPr>
              <a:t>18. Oktober 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altLang="de-DE"/>
              <a:t>|  </a:t>
            </a:r>
            <a:fld id="{E526A819-9FA5-480B-AA80-B0EE2CE4290D}" type="slidenum">
              <a:rPr lang="de-DE" altLang="de-DE" smtClean="0"/>
              <a:pPr/>
              <a:t>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910314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AC98F4B-0F8B-4A71-988D-C71390328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84163"/>
            <a:ext cx="8786812" cy="1566862"/>
          </a:xfrm>
          <a:prstGeom prst="rect">
            <a:avLst/>
          </a:prstGeom>
          <a:solidFill>
            <a:srgbClr val="005AA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de-DE" altLang="de-DE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3C98749-4023-42AD-AE3A-55643258CEF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9388" y="155575"/>
            <a:ext cx="8786812" cy="109538"/>
          </a:xfrm>
          <a:prstGeom prst="rect">
            <a:avLst/>
          </a:prstGeom>
          <a:solidFill>
            <a:srgbClr val="005AA9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cs typeface="Tahoma" pitchFamily="34" charset="0"/>
            </a:endParaRPr>
          </a:p>
        </p:txBody>
      </p:sp>
      <p:sp>
        <p:nvSpPr>
          <p:cNvPr id="7" name="Line 14">
            <a:extLst>
              <a:ext uri="{FF2B5EF4-FFF2-40B4-BE49-F238E27FC236}">
                <a16:creationId xmlns:a16="http://schemas.microsoft.com/office/drawing/2014/main" id="{11AA16B0-9512-4673-88DC-53A41D5D20C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8" y="1851025"/>
            <a:ext cx="878681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8" name="Line 15">
            <a:extLst>
              <a:ext uri="{FF2B5EF4-FFF2-40B4-BE49-F238E27FC236}">
                <a16:creationId xmlns:a16="http://schemas.microsoft.com/office/drawing/2014/main" id="{A0ED927A-FA80-4894-87F9-6E781C5FD02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8" y="4775200"/>
            <a:ext cx="878681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9" name="Line 14">
            <a:extLst>
              <a:ext uri="{FF2B5EF4-FFF2-40B4-BE49-F238E27FC236}">
                <a16:creationId xmlns:a16="http://schemas.microsoft.com/office/drawing/2014/main" id="{490DDCD5-9538-4201-817E-E5A1A39DA8F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8" y="285750"/>
            <a:ext cx="8786812" cy="0"/>
          </a:xfrm>
          <a:prstGeom prst="line">
            <a:avLst/>
          </a:prstGeom>
          <a:noFill/>
          <a:ln w="1524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9E799F22-779D-4E5F-85E6-D168D6F0E2FB}"/>
              </a:ext>
            </a:extLst>
          </p:cNvPr>
          <p:cNvSpPr txBox="1">
            <a:spLocks/>
          </p:cNvSpPr>
          <p:nvPr userDrawn="1"/>
        </p:nvSpPr>
        <p:spPr>
          <a:xfrm>
            <a:off x="84138" y="4803775"/>
            <a:ext cx="7273925" cy="173038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1000" dirty="0">
                <a:cs typeface="Tahoma" panose="020B0604030504040204" pitchFamily="34" charset="0"/>
              </a:rPr>
              <a:t>November 26, 2026  |  Institute for Applied Physics  |  Atome – Photonen – Quanten  |  Daniel Hagn |  </a:t>
            </a:r>
            <a:fld id="{9F51A46B-51C9-420F-A396-44C23711C593}" type="slidenum">
              <a:rPr lang="de-DE" altLang="de-DE" sz="1000" smtClean="0">
                <a:cs typeface="Tahoma" panose="020B060403050404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 altLang="de-DE" sz="1000" dirty="0">
              <a:cs typeface="Tahoma" panose="020B0604030504040204" pitchFamily="34" charset="0"/>
            </a:endParaRPr>
          </a:p>
        </p:txBody>
      </p:sp>
      <p:pic>
        <p:nvPicPr>
          <p:cNvPr id="11" name="Picture 9" descr="tud_logo">
            <a:extLst>
              <a:ext uri="{FF2B5EF4-FFF2-40B4-BE49-F238E27FC236}">
                <a16:creationId xmlns:a16="http://schemas.microsoft.com/office/drawing/2014/main" id="{41F4CD59-5D99-41B4-B850-54F06089FB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3"/>
          <a:stretch>
            <a:fillRect/>
          </a:stretch>
        </p:blipFill>
        <p:spPr bwMode="auto">
          <a:xfrm>
            <a:off x="7653338" y="401638"/>
            <a:ext cx="14271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51520" y="1095623"/>
            <a:ext cx="6840760" cy="708422"/>
          </a:xfrm>
        </p:spPr>
        <p:txBody>
          <a:bodyPr tIns="0" bIns="0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270898" y="375294"/>
            <a:ext cx="6821383" cy="628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5A906BE-F778-40C4-A4AC-2478223D12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560" y="4792980"/>
            <a:ext cx="1372385" cy="33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87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1500" y="366712"/>
            <a:ext cx="6821383" cy="62865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1"/>
          </p:nvPr>
        </p:nvSpPr>
        <p:spPr>
          <a:xfrm>
            <a:off x="180490" y="1185474"/>
            <a:ext cx="8783998" cy="3359957"/>
          </a:xfrm>
        </p:spPr>
        <p:txBody>
          <a:bodyPr/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04445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3" y="3305177"/>
            <a:ext cx="8784975" cy="1021557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79513" y="2180035"/>
            <a:ext cx="8784975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9880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1122" y="366712"/>
            <a:ext cx="6821383" cy="628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81121" y="1194198"/>
            <a:ext cx="4357220" cy="3413536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sz="half" idx="10"/>
          </p:nvPr>
        </p:nvSpPr>
        <p:spPr>
          <a:xfrm>
            <a:off x="4663618" y="1194198"/>
            <a:ext cx="4300870" cy="3413536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05626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4" y="366712"/>
            <a:ext cx="6808162" cy="628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79514" y="1194197"/>
            <a:ext cx="2860710" cy="3486072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sz="half" idx="10"/>
          </p:nvPr>
        </p:nvSpPr>
        <p:spPr>
          <a:xfrm>
            <a:off x="3131840" y="1194197"/>
            <a:ext cx="2860710" cy="3486072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Inhaltsplatzhalter 2"/>
          <p:cNvSpPr>
            <a:spLocks noGrp="1"/>
          </p:cNvSpPr>
          <p:nvPr>
            <p:ph sz="half" idx="12"/>
          </p:nvPr>
        </p:nvSpPr>
        <p:spPr>
          <a:xfrm>
            <a:off x="6084168" y="1194197"/>
            <a:ext cx="2880320" cy="3486072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5354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4" y="366712"/>
            <a:ext cx="6808162" cy="628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8246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44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419872" y="1184707"/>
            <a:ext cx="5544616" cy="343058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512" y="1184707"/>
            <a:ext cx="3147109" cy="343058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79512" y="366712"/>
            <a:ext cx="6840000" cy="628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383001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1185555"/>
            <a:ext cx="5486400" cy="23330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74951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3">
            <a:extLst>
              <a:ext uri="{FF2B5EF4-FFF2-40B4-BE49-F238E27FC236}">
                <a16:creationId xmlns:a16="http://schemas.microsoft.com/office/drawing/2014/main" id="{B2DEF7C5-B626-40CA-B486-B13B74877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65150"/>
            <a:ext cx="8713787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cs typeface="Tahoma" pitchFamily="34" charset="0"/>
            </a:endParaRP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96E5FFDE-73FA-426A-BD9A-6BF3A48A7F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385763"/>
            <a:ext cx="71310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33CAAF0B-E9E2-4AE6-BCFB-F078FFB381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203325"/>
            <a:ext cx="8786812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C39D8E94-3E00-4FF9-8B43-C582B880E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66688"/>
            <a:ext cx="8786812" cy="107950"/>
          </a:xfrm>
          <a:prstGeom prst="rect">
            <a:avLst/>
          </a:prstGeom>
          <a:solidFill>
            <a:srgbClr val="005AA9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cs typeface="Tahoma" pitchFamily="34" charset="0"/>
            </a:endParaRPr>
          </a:p>
        </p:txBody>
      </p:sp>
      <p:sp>
        <p:nvSpPr>
          <p:cNvPr id="1030" name="Line 14">
            <a:extLst>
              <a:ext uri="{FF2B5EF4-FFF2-40B4-BE49-F238E27FC236}">
                <a16:creationId xmlns:a16="http://schemas.microsoft.com/office/drawing/2014/main" id="{3B5E8B18-6027-4A8B-8190-561D29818D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8" y="1106488"/>
            <a:ext cx="878681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3" name="Fußzeilenplatzhalter 3">
            <a:extLst>
              <a:ext uri="{FF2B5EF4-FFF2-40B4-BE49-F238E27FC236}">
                <a16:creationId xmlns:a16="http://schemas.microsoft.com/office/drawing/2014/main" id="{D0BC9D0E-53EB-4E84-B28B-66E90A537ABF}"/>
              </a:ext>
            </a:extLst>
          </p:cNvPr>
          <p:cNvSpPr txBox="1">
            <a:spLocks/>
          </p:cNvSpPr>
          <p:nvPr userDrawn="1"/>
        </p:nvSpPr>
        <p:spPr>
          <a:xfrm>
            <a:off x="84138" y="4803775"/>
            <a:ext cx="7273925" cy="173038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1000" dirty="0">
                <a:cs typeface="Tahoma" panose="020B0604030504040204" pitchFamily="34" charset="0"/>
              </a:rPr>
              <a:t>November 26, 2026  |  Institute for Applied Physics  |  Atome – Photonen – Quanten  |  Daniel Hagn  |  </a:t>
            </a:r>
            <a:fld id="{9F51A46B-51C9-420F-A396-44C23711C593}" type="slidenum">
              <a:rPr lang="de-DE" altLang="de-DE" sz="1000" smtClean="0">
                <a:cs typeface="Tahoma" panose="020B060403050404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 altLang="de-DE" sz="1000" dirty="0">
              <a:cs typeface="Tahoma" panose="020B0604030504040204" pitchFamily="34" charset="0"/>
            </a:endParaRPr>
          </a:p>
          <a:p>
            <a:pPr eaLnBrk="1" hangingPunct="1"/>
            <a:endParaRPr lang="de-DE" altLang="de-DE" sz="1000" dirty="0">
              <a:cs typeface="Tahoma" panose="020B0604030504040204" pitchFamily="34" charset="0"/>
            </a:endParaRPr>
          </a:p>
        </p:txBody>
      </p:sp>
      <p:sp>
        <p:nvSpPr>
          <p:cNvPr id="2" name="Line 14">
            <a:extLst>
              <a:ext uri="{FF2B5EF4-FFF2-40B4-BE49-F238E27FC236}">
                <a16:creationId xmlns:a16="http://schemas.microsoft.com/office/drawing/2014/main" id="{0C417082-CF6F-4F56-B626-BCDDC5D9005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8" y="296863"/>
            <a:ext cx="8786812" cy="0"/>
          </a:xfrm>
          <a:prstGeom prst="line">
            <a:avLst/>
          </a:prstGeom>
          <a:noFill/>
          <a:ln w="1524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034" name="Line 15">
            <a:extLst>
              <a:ext uri="{FF2B5EF4-FFF2-40B4-BE49-F238E27FC236}">
                <a16:creationId xmlns:a16="http://schemas.microsoft.com/office/drawing/2014/main" id="{8C8CCC45-74D4-48F2-B96B-E4968458CF2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8" y="4775200"/>
            <a:ext cx="878681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pic>
        <p:nvPicPr>
          <p:cNvPr id="1035" name="Picture 9" descr="tud_logo">
            <a:extLst>
              <a:ext uri="{FF2B5EF4-FFF2-40B4-BE49-F238E27FC236}">
                <a16:creationId xmlns:a16="http://schemas.microsoft.com/office/drawing/2014/main" id="{CFC8C3AF-3B94-45CD-8F19-71DA524AB5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3"/>
          <a:stretch>
            <a:fillRect/>
          </a:stretch>
        </p:blipFill>
        <p:spPr bwMode="auto">
          <a:xfrm>
            <a:off x="7653338" y="401638"/>
            <a:ext cx="14271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67E3527-F879-4C67-B426-A7BCC11A54A4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560" y="4792980"/>
            <a:ext cx="1372385" cy="3344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n-lt"/>
          <a:ea typeface="+mj-ea"/>
          <a:cs typeface="Tahoma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9pPr>
    </p:titleStyle>
    <p:bodyStyle>
      <a:lvl1pPr marL="179388" indent="-179388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defRPr sz="200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179388" indent="-177800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Tahoma" pitchFamily="34" charset="0"/>
        </a:defRPr>
      </a:lvl2pPr>
      <a:lvl3pPr marL="538163" indent="-187325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cs typeface="Tahoma" pitchFamily="34" charset="0"/>
        </a:defRPr>
      </a:lvl3pPr>
      <a:lvl4pPr marL="717550" indent="-173038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cs typeface="Tahoma" pitchFamily="34" charset="0"/>
        </a:defRPr>
      </a:lvl4pPr>
      <a:lvl5pPr marL="908050" indent="-188913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cs typeface="Tahoma" pitchFamily="34" charset="0"/>
        </a:defRPr>
      </a:lvl5pPr>
      <a:lvl6pPr marL="13652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18224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22796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27368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tertitel 3">
            <a:extLst>
              <a:ext uri="{FF2B5EF4-FFF2-40B4-BE49-F238E27FC236}">
                <a16:creationId xmlns:a16="http://schemas.microsoft.com/office/drawing/2014/main" id="{B21FCA12-0FF9-4088-BF6C-D0157DE1E3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sz="1500" dirty="0"/>
              <a:t>Master </a:t>
            </a:r>
            <a:r>
              <a:rPr lang="de-DE" sz="1500" dirty="0" err="1"/>
              <a:t>thesis</a:t>
            </a:r>
            <a:r>
              <a:rPr lang="de-DE" sz="1500" dirty="0"/>
              <a:t> by Daniel Hagn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el 4">
                <a:extLst>
                  <a:ext uri="{FF2B5EF4-FFF2-40B4-BE49-F238E27FC236}">
                    <a16:creationId xmlns:a16="http://schemas.microsoft.com/office/drawing/2014/main" id="{F0EA7641-3536-454C-8240-7F10E9AAEBD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Shaping of uniform intensity profiles for</a:t>
                </a:r>
                <a:br>
                  <a:rPr lang="en-US" dirty="0"/>
                </a:br>
                <a:r>
                  <a:rPr lang="en-US" dirty="0"/>
                  <a:t>single-site addressing of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de-DE" b="1" i="0" smtClean="0">
                            <a:latin typeface="Cambria Math" panose="02040503050406030204" pitchFamily="18" charset="0"/>
                          </a:rPr>
                          <m:t>𝟖𝟓</m:t>
                        </m:r>
                      </m:sup>
                      <m:e>
                        <m:r>
                          <a:rPr lang="de-DE" b="1" i="0" smtClean="0">
                            <a:latin typeface="Cambria Math" panose="02040503050406030204" pitchFamily="18" charset="0"/>
                          </a:rPr>
                          <m:t>𝐑𝐛</m:t>
                        </m:r>
                      </m:e>
                    </m:sPre>
                  </m:oMath>
                </a14:m>
                <a:r>
                  <a:rPr lang="en-US" dirty="0"/>
                  <a:t> atoms</a:t>
                </a:r>
                <a:endParaRPr lang="de-DE" dirty="0"/>
              </a:p>
            </p:txBody>
          </p:sp>
        </mc:Choice>
        <mc:Fallback>
          <p:sp>
            <p:nvSpPr>
              <p:cNvPr id="5" name="Titel 4">
                <a:extLst>
                  <a:ext uri="{FF2B5EF4-FFF2-40B4-BE49-F238E27FC236}">
                    <a16:creationId xmlns:a16="http://schemas.microsoft.com/office/drawing/2014/main" id="{F0EA7641-3536-454C-8240-7F10E9AAEB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681" t="-27184" b="-398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2">
            <a:extLst>
              <a:ext uri="{FF2B5EF4-FFF2-40B4-BE49-F238E27FC236}">
                <a16:creationId xmlns:a16="http://schemas.microsoft.com/office/drawing/2014/main" id="{95C6C828-DF0D-5FD7-8766-66BFED0367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CC6F6068-604C-FFC7-2228-B560E502AE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001D9F11-06C4-D196-2F57-B3D531C0A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894532" y="-1259908"/>
            <a:ext cx="3354936" cy="8784976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BA3FBB1-496F-A22F-BB7B-06870A41B55C}"/>
              </a:ext>
            </a:extLst>
          </p:cNvPr>
          <p:cNvSpPr txBox="1"/>
          <p:nvPr/>
        </p:nvSpPr>
        <p:spPr>
          <a:xfrm>
            <a:off x="6732240" y="3939902"/>
            <a:ext cx="2016224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0" hangingPunct="0">
              <a:spcBef>
                <a:spcPts val="200"/>
              </a:spcBef>
              <a:spcAft>
                <a:spcPts val="225"/>
              </a:spcAft>
              <a:buFont typeface="Wingdings" panose="05000000000000000000" pitchFamily="2" charset="2"/>
            </a:pPr>
            <a:r>
              <a:rPr lang="en-US" sz="1200" b="1" dirty="0">
                <a:solidFill>
                  <a:schemeClr val="bg1"/>
                </a:solidFill>
                <a:latin typeface="+mn-lt"/>
                <a:cs typeface="Tahoma" pitchFamily="34" charset="0"/>
              </a:rPr>
              <a:t>Supervised</a:t>
            </a:r>
            <a:r>
              <a:rPr lang="de-DE" sz="1200" b="1" dirty="0">
                <a:solidFill>
                  <a:schemeClr val="bg1"/>
                </a:solidFill>
                <a:latin typeface="+mn-lt"/>
                <a:cs typeface="Tahoma" pitchFamily="34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+mn-lt"/>
                <a:cs typeface="Tahoma" pitchFamily="34" charset="0"/>
              </a:rPr>
              <a:t>by</a:t>
            </a:r>
            <a:r>
              <a:rPr lang="de-DE" sz="1200" b="1" dirty="0">
                <a:solidFill>
                  <a:schemeClr val="bg1"/>
                </a:solidFill>
                <a:latin typeface="+mn-lt"/>
                <a:cs typeface="Tahoma" pitchFamily="34" charset="0"/>
              </a:rPr>
              <a:t>:</a:t>
            </a:r>
          </a:p>
          <a:p>
            <a:pPr algn="r" eaLnBrk="0" hangingPunct="0">
              <a:spcBef>
                <a:spcPts val="200"/>
              </a:spcBef>
              <a:spcAft>
                <a:spcPts val="225"/>
              </a:spcAft>
              <a:buFont typeface="Wingdings" panose="05000000000000000000" pitchFamily="2" charset="2"/>
            </a:pPr>
            <a:r>
              <a:rPr lang="de-DE" sz="1200" b="1" dirty="0">
                <a:solidFill>
                  <a:schemeClr val="bg1"/>
                </a:solidFill>
                <a:latin typeface="+mn-lt"/>
                <a:cs typeface="Tahoma" pitchFamily="34" charset="0"/>
              </a:rPr>
              <a:t>Prof. Dr. </a:t>
            </a:r>
            <a:r>
              <a:rPr lang="de-DE" sz="1200" b="1" dirty="0">
                <a:solidFill>
                  <a:srgbClr val="FFFFFF"/>
                </a:solidFill>
                <a:latin typeface="+mn-lt"/>
                <a:cs typeface="Tahoma" pitchFamily="34" charset="0"/>
              </a:rPr>
              <a:t>Gerhard</a:t>
            </a:r>
            <a:r>
              <a:rPr lang="de-DE" sz="1200" b="1" dirty="0">
                <a:solidFill>
                  <a:schemeClr val="bg1"/>
                </a:solidFill>
                <a:latin typeface="+mn-lt"/>
                <a:cs typeface="Tahoma" pitchFamily="34" charset="0"/>
              </a:rPr>
              <a:t> </a:t>
            </a:r>
            <a:r>
              <a:rPr lang="de-DE" sz="1200" b="1" dirty="0" err="1">
                <a:solidFill>
                  <a:schemeClr val="bg1"/>
                </a:solidFill>
                <a:latin typeface="+mn-lt"/>
                <a:cs typeface="Tahoma" pitchFamily="34" charset="0"/>
              </a:rPr>
              <a:t>Birkl</a:t>
            </a:r>
            <a:endParaRPr lang="de-DE" sz="1200" b="1" dirty="0">
              <a:solidFill>
                <a:schemeClr val="bg1"/>
              </a:solidFill>
              <a:latin typeface="+mn-lt"/>
              <a:cs typeface="Tahoma" pitchFamily="34" charset="0"/>
            </a:endParaRPr>
          </a:p>
          <a:p>
            <a:pPr algn="r" eaLnBrk="0" hangingPunct="0">
              <a:spcBef>
                <a:spcPts val="200"/>
              </a:spcBef>
              <a:spcAft>
                <a:spcPts val="225"/>
              </a:spcAft>
              <a:buFont typeface="Wingdings" panose="05000000000000000000" pitchFamily="2" charset="2"/>
            </a:pPr>
            <a:r>
              <a:rPr lang="de-DE" sz="1200" b="1" dirty="0">
                <a:solidFill>
                  <a:schemeClr val="bg1"/>
                </a:solidFill>
                <a:latin typeface="+mn-lt"/>
                <a:cs typeface="Tahoma" pitchFamily="34" charset="0"/>
              </a:rPr>
              <a:t>Lukas Sturm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C4815-EB72-CD9E-697E-7FE5B5C0C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0E2553D3-E260-6B5E-3FAE-5AE5F4E47EB8}"/>
              </a:ext>
            </a:extLst>
          </p:cNvPr>
          <p:cNvSpPr txBox="1">
            <a:spLocks/>
          </p:cNvSpPr>
          <p:nvPr/>
        </p:nvSpPr>
        <p:spPr bwMode="auto">
          <a:xfrm>
            <a:off x="180490" y="1185474"/>
            <a:ext cx="8783998" cy="3359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79388" indent="-179388" algn="l" rtl="0" eaLnBrk="0" fontAlgn="base" hangingPunct="0">
              <a:lnSpc>
                <a:spcPct val="130000"/>
              </a:lnSpc>
              <a:spcBef>
                <a:spcPts val="200"/>
              </a:spcBef>
              <a:spcAft>
                <a:spcPts val="225"/>
              </a:spcAft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+mn-lt"/>
                <a:ea typeface="+mn-ea"/>
                <a:cs typeface="Tahoma" pitchFamily="34" charset="0"/>
              </a:defRPr>
            </a:lvl1pPr>
            <a:lvl2pPr marL="179388" indent="-177800" algn="l" rtl="0" eaLnBrk="0" fontAlgn="base" hangingPunct="0">
              <a:lnSpc>
                <a:spcPct val="130000"/>
              </a:lnSpc>
              <a:spcBef>
                <a:spcPts val="200"/>
              </a:spcBef>
              <a:spcAft>
                <a:spcPts val="225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Tahoma" pitchFamily="34" charset="0"/>
              </a:defRPr>
            </a:lvl2pPr>
            <a:lvl3pPr marL="538163" indent="-187325" algn="l" rtl="0" eaLnBrk="0" fontAlgn="base" hangingPunct="0">
              <a:lnSpc>
                <a:spcPct val="130000"/>
              </a:lnSpc>
              <a:spcBef>
                <a:spcPts val="200"/>
              </a:spcBef>
              <a:spcAft>
                <a:spcPts val="225"/>
              </a:spcAft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cs typeface="Tahoma" pitchFamily="34" charset="0"/>
              </a:defRPr>
            </a:lvl3pPr>
            <a:lvl4pPr marL="717550" indent="-173038" algn="l" rtl="0" eaLnBrk="0" fontAlgn="base" hangingPunct="0">
              <a:lnSpc>
                <a:spcPct val="130000"/>
              </a:lnSpc>
              <a:spcBef>
                <a:spcPts val="200"/>
              </a:spcBef>
              <a:spcAft>
                <a:spcPts val="225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cs typeface="Tahoma" pitchFamily="34" charset="0"/>
              </a:defRPr>
            </a:lvl4pPr>
            <a:lvl5pPr marL="908050" indent="-188913" algn="l" rtl="0" eaLnBrk="0" fontAlgn="base" hangingPunct="0">
              <a:lnSpc>
                <a:spcPct val="130000"/>
              </a:lnSpc>
              <a:spcBef>
                <a:spcPts val="200"/>
              </a:spcBef>
              <a:spcAft>
                <a:spcPts val="225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cs typeface="Tahoma" pitchFamily="34" charset="0"/>
              </a:defRPr>
            </a:lvl5pPr>
            <a:lvl6pPr marL="13652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kern="0" dirty="0"/>
              <a:t>Quantum </a:t>
            </a:r>
            <a:r>
              <a:rPr lang="de-DE" kern="0" dirty="0" err="1"/>
              <a:t>information</a:t>
            </a:r>
            <a:r>
              <a:rPr lang="de-DE" kern="0" dirty="0"/>
              <a:t> </a:t>
            </a:r>
            <a:r>
              <a:rPr lang="de-DE" kern="0" dirty="0" err="1"/>
              <a:t>processing</a:t>
            </a:r>
            <a:endParaRPr lang="de-DE" kern="0" dirty="0"/>
          </a:p>
          <a:p>
            <a:pPr marL="701675" lvl="2" indent="-342900">
              <a:buFont typeface="Arial" panose="020B0604020202020204" pitchFamily="34" charset="0"/>
              <a:buChar char="•"/>
            </a:pPr>
            <a:r>
              <a:rPr lang="de-DE" kern="0" dirty="0"/>
              <a:t>Single </a:t>
            </a:r>
            <a:r>
              <a:rPr lang="de-DE" kern="0" dirty="0" err="1"/>
              <a:t>qubit</a:t>
            </a:r>
            <a:r>
              <a:rPr lang="de-DE" kern="0" dirty="0"/>
              <a:t> </a:t>
            </a:r>
            <a:r>
              <a:rPr lang="de-DE" kern="0" dirty="0" err="1"/>
              <a:t>gate</a:t>
            </a:r>
            <a:r>
              <a:rPr lang="de-DE" kern="0" dirty="0"/>
              <a:t> </a:t>
            </a:r>
            <a:r>
              <a:rPr lang="de-DE" kern="0" dirty="0" err="1"/>
              <a:t>operations</a:t>
            </a:r>
            <a:endParaRPr lang="de-DE" kern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kern="0" dirty="0"/>
              <a:t>Two </a:t>
            </a:r>
            <a:r>
              <a:rPr lang="de-DE" kern="0" dirty="0" err="1"/>
              <a:t>photon</a:t>
            </a:r>
            <a:r>
              <a:rPr lang="de-DE" kern="0" dirty="0"/>
              <a:t> </a:t>
            </a:r>
            <a:r>
              <a:rPr lang="de-DE" kern="0" dirty="0" err="1"/>
              <a:t>raman</a:t>
            </a:r>
            <a:r>
              <a:rPr lang="de-DE" kern="0" dirty="0"/>
              <a:t> </a:t>
            </a:r>
            <a:r>
              <a:rPr lang="de-DE" kern="0" dirty="0" err="1"/>
              <a:t>transitions</a:t>
            </a:r>
            <a:endParaRPr lang="de-DE" kern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kern="0" dirty="0"/>
              <a:t>Global and </a:t>
            </a:r>
            <a:r>
              <a:rPr lang="de-DE" kern="0" dirty="0" err="1"/>
              <a:t>local</a:t>
            </a:r>
            <a:r>
              <a:rPr lang="de-DE" kern="0" dirty="0"/>
              <a:t> </a:t>
            </a:r>
            <a:r>
              <a:rPr lang="de-DE" kern="0" dirty="0" err="1"/>
              <a:t>addressing</a:t>
            </a:r>
            <a:endParaRPr lang="de-DE" kern="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e-DE" kern="0" dirty="0"/>
              <a:t>Uniform </a:t>
            </a:r>
            <a:r>
              <a:rPr lang="de-DE" kern="0" dirty="0" err="1"/>
              <a:t>intensity</a:t>
            </a:r>
            <a:r>
              <a:rPr lang="de-DE" kern="0" dirty="0"/>
              <a:t> </a:t>
            </a:r>
            <a:r>
              <a:rPr lang="de-DE" kern="0" dirty="0" err="1"/>
              <a:t>profile</a:t>
            </a:r>
            <a:endParaRPr lang="de-DE" kern="0" dirty="0"/>
          </a:p>
          <a:p>
            <a:pPr marL="701675" lvl="2" indent="-342900">
              <a:buFont typeface="Arial" panose="020B0604020202020204" pitchFamily="34" charset="0"/>
              <a:buChar char="•"/>
            </a:pPr>
            <a:r>
              <a:rPr lang="de-DE" kern="0" dirty="0"/>
              <a:t>Whole </a:t>
            </a:r>
            <a:r>
              <a:rPr lang="de-DE" kern="0" dirty="0" err="1"/>
              <a:t>atomic</a:t>
            </a:r>
            <a:r>
              <a:rPr lang="de-DE" kern="0" dirty="0"/>
              <a:t> </a:t>
            </a:r>
            <a:r>
              <a:rPr lang="de-DE" kern="0" dirty="0" err="1"/>
              <a:t>grid</a:t>
            </a:r>
            <a:endParaRPr lang="de-DE" kern="0" dirty="0"/>
          </a:p>
          <a:p>
            <a:pPr marL="701675" lvl="2" indent="-342900">
              <a:buFont typeface="Arial" panose="020B0604020202020204" pitchFamily="34" charset="0"/>
              <a:buChar char="•"/>
            </a:pPr>
            <a:r>
              <a:rPr lang="de-DE" kern="0" dirty="0"/>
              <a:t>Single </a:t>
            </a:r>
            <a:r>
              <a:rPr lang="de-DE" kern="0" dirty="0" err="1"/>
              <a:t>site</a:t>
            </a:r>
            <a:r>
              <a:rPr lang="de-DE" kern="0" dirty="0"/>
              <a:t> </a:t>
            </a:r>
            <a:r>
              <a:rPr lang="de-DE" kern="0" dirty="0" err="1"/>
              <a:t>addressing</a:t>
            </a:r>
            <a:r>
              <a:rPr lang="de-DE" kern="0" dirty="0"/>
              <a:t>      AOD</a:t>
            </a:r>
          </a:p>
          <a:p>
            <a:pPr marL="701675" lvl="2" indent="-342900">
              <a:buFont typeface="Arial" panose="020B0604020202020204" pitchFamily="34" charset="0"/>
              <a:buChar char="•"/>
            </a:pPr>
            <a:endParaRPr lang="de-DE" kern="0" dirty="0"/>
          </a:p>
          <a:p>
            <a:pPr marL="701675" lvl="2" indent="-342900">
              <a:buFont typeface="Arial" panose="020B0604020202020204" pitchFamily="34" charset="0"/>
              <a:buChar char="•"/>
            </a:pPr>
            <a:endParaRPr lang="de-DE" kern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A1279A-A771-3F9D-5142-0BBC68E5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pic>
        <p:nvPicPr>
          <p:cNvPr id="5" name="Inhaltsplatzhalter 4" descr="Ein Bild, das Diagramm, Text, Reihe, parallel enthält.&#10;&#10;KI-generierte Inhalte können fehlerhaft sein.">
            <a:extLst>
              <a:ext uri="{FF2B5EF4-FFF2-40B4-BE49-F238E27FC236}">
                <a16:creationId xmlns:a16="http://schemas.microsoft.com/office/drawing/2014/main" id="{991F9C2B-FAE5-281E-B70C-6CC219036E19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3"/>
          <a:stretch>
            <a:fillRect/>
          </a:stretch>
        </p:blipFill>
        <p:spPr bwMode="auto">
          <a:xfrm>
            <a:off x="5228689" y="1123723"/>
            <a:ext cx="1951902" cy="1448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60E152F3-810D-991F-8110-63C1C1D095B4}"/>
              </a:ext>
            </a:extLst>
          </p:cNvPr>
          <p:cNvSpPr txBox="1"/>
          <p:nvPr/>
        </p:nvSpPr>
        <p:spPr>
          <a:xfrm>
            <a:off x="5652120" y="2587816"/>
            <a:ext cx="14118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solidFill>
                  <a:schemeClr val="bg2"/>
                </a:solidFill>
              </a:rPr>
              <a:t>Master </a:t>
            </a:r>
            <a:r>
              <a:rPr lang="de-DE" sz="600" dirty="0" err="1">
                <a:solidFill>
                  <a:schemeClr val="bg2"/>
                </a:solidFill>
              </a:rPr>
              <a:t>thesis</a:t>
            </a:r>
            <a:r>
              <a:rPr lang="de-DE" sz="600" dirty="0">
                <a:solidFill>
                  <a:schemeClr val="bg2"/>
                </a:solidFill>
              </a:rPr>
              <a:t>, Simon B.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CC65C79-2F0A-8009-7C3C-E62BA7E7FE22}"/>
              </a:ext>
            </a:extLst>
          </p:cNvPr>
          <p:cNvSpPr txBox="1"/>
          <p:nvPr/>
        </p:nvSpPr>
        <p:spPr>
          <a:xfrm>
            <a:off x="7748621" y="2571750"/>
            <a:ext cx="14118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solidFill>
                  <a:schemeClr val="bg2"/>
                </a:solidFill>
              </a:rPr>
              <a:t>Bachelor </a:t>
            </a:r>
            <a:r>
              <a:rPr lang="de-DE" sz="600" dirty="0" err="1">
                <a:solidFill>
                  <a:schemeClr val="bg2"/>
                </a:solidFill>
              </a:rPr>
              <a:t>thesis</a:t>
            </a:r>
            <a:r>
              <a:rPr lang="de-DE" sz="600" dirty="0">
                <a:solidFill>
                  <a:schemeClr val="bg2"/>
                </a:solidFill>
              </a:rPr>
              <a:t> Carlo B.</a:t>
            </a:r>
          </a:p>
        </p:txBody>
      </p:sp>
      <p:pic>
        <p:nvPicPr>
          <p:cNvPr id="11" name="Grafik 10" descr="Ein Bild, das Farbigkeit, Reihe, Screenshot, Quadrat enthält.&#10;&#10;KI-generierte Inhalte können fehlerhaft sein.">
            <a:extLst>
              <a:ext uri="{FF2B5EF4-FFF2-40B4-BE49-F238E27FC236}">
                <a16:creationId xmlns:a16="http://schemas.microsoft.com/office/drawing/2014/main" id="{41D3280A-A49A-7FF0-A6E0-CD05A8EE4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581" y="1185474"/>
            <a:ext cx="1626842" cy="1354705"/>
          </a:xfrm>
          <a:prstGeom prst="rect">
            <a:avLst/>
          </a:prstGeom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3A042A97-8626-0551-848B-4E299660810A}"/>
              </a:ext>
            </a:extLst>
          </p:cNvPr>
          <p:cNvCxnSpPr/>
          <p:nvPr/>
        </p:nvCxnSpPr>
        <p:spPr>
          <a:xfrm>
            <a:off x="3203848" y="4011910"/>
            <a:ext cx="2160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350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8A5885-A388-3269-83EE-F27AA77E1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Raman-</a:t>
            </a:r>
            <a:r>
              <a:rPr lang="de-DE" dirty="0" err="1"/>
              <a:t>Assisted</a:t>
            </a:r>
            <a:r>
              <a:rPr lang="de-DE" dirty="0"/>
              <a:t> </a:t>
            </a:r>
            <a:r>
              <a:rPr lang="de-DE" dirty="0" err="1"/>
              <a:t>pumping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41920D-328D-FBED-7509-AA2F6F81A09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52553" y="1228017"/>
            <a:ext cx="8783998" cy="335995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Coarse</a:t>
            </a:r>
            <a:r>
              <a:rPr lang="de-DE" dirty="0"/>
              <a:t> pump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Dissipative </a:t>
            </a:r>
            <a:r>
              <a:rPr lang="de-DE" dirty="0" err="1"/>
              <a:t>decay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2 Photon </a:t>
            </a:r>
            <a:r>
              <a:rPr lang="de-DE" dirty="0" err="1"/>
              <a:t>raman</a:t>
            </a:r>
            <a:r>
              <a:rPr lang="de-DE" dirty="0"/>
              <a:t> pulse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Preparation</a:t>
            </a:r>
            <a:r>
              <a:rPr lang="de-DE" dirty="0"/>
              <a:t> 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EOM/AOM not </a:t>
            </a:r>
            <a:r>
              <a:rPr lang="de-DE" dirty="0" err="1"/>
              <a:t>usable</a:t>
            </a:r>
            <a:r>
              <a:rPr lang="de-DE" dirty="0"/>
              <a:t>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FEAD2F9-E13E-4BCC-8488-DE8A8B4A5D82}"/>
              </a:ext>
            </a:extLst>
          </p:cNvPr>
          <p:cNvSpPr txBox="1"/>
          <p:nvPr/>
        </p:nvSpPr>
        <p:spPr>
          <a:xfrm>
            <a:off x="6296954" y="3808782"/>
            <a:ext cx="14118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solidFill>
                  <a:schemeClr val="bg2"/>
                </a:solidFill>
              </a:rPr>
              <a:t>Master </a:t>
            </a:r>
            <a:r>
              <a:rPr lang="de-DE" sz="600" dirty="0" err="1">
                <a:solidFill>
                  <a:schemeClr val="bg2"/>
                </a:solidFill>
              </a:rPr>
              <a:t>thesis</a:t>
            </a:r>
            <a:r>
              <a:rPr lang="de-DE" sz="600" dirty="0">
                <a:solidFill>
                  <a:schemeClr val="bg2"/>
                </a:solidFill>
              </a:rPr>
              <a:t>, </a:t>
            </a:r>
            <a:r>
              <a:rPr lang="de-DE" sz="600" dirty="0" err="1">
                <a:solidFill>
                  <a:schemeClr val="bg2"/>
                </a:solidFill>
              </a:rPr>
              <a:t>Timon</a:t>
            </a:r>
            <a:r>
              <a:rPr lang="de-DE" sz="600" dirty="0">
                <a:solidFill>
                  <a:schemeClr val="bg2"/>
                </a:solidFill>
              </a:rPr>
              <a:t> S..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B0F0F9B9-12F2-AE5A-D30E-EF5F85497045}"/>
              </a:ext>
            </a:extLst>
          </p:cNvPr>
          <p:cNvCxnSpPr/>
          <p:nvPr/>
        </p:nvCxnSpPr>
        <p:spPr>
          <a:xfrm flipV="1">
            <a:off x="395536" y="1238006"/>
            <a:ext cx="0" cy="398911"/>
          </a:xfrm>
          <a:prstGeom prst="straightConnector1">
            <a:avLst/>
          </a:prstGeom>
          <a:ln w="19050" cap="flat" cmpd="sng" algn="ctr">
            <a:solidFill>
              <a:srgbClr val="D40000"/>
            </a:solidFill>
            <a:prstDash val="solid"/>
            <a:round/>
            <a:headEnd type="none" w="med" len="med"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Verbinder: gekrümmt 15">
            <a:extLst>
              <a:ext uri="{FF2B5EF4-FFF2-40B4-BE49-F238E27FC236}">
                <a16:creationId xmlns:a16="http://schemas.microsoft.com/office/drawing/2014/main" id="{CB053DB3-D9AC-B45E-0D5C-925EA4DB5F2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5516" y="1843355"/>
            <a:ext cx="288032" cy="216024"/>
          </a:xfrm>
          <a:prstGeom prst="curvedConnector3">
            <a:avLst>
              <a:gd name="adj1" fmla="val 42945"/>
            </a:avLst>
          </a:prstGeom>
          <a:ln>
            <a:solidFill>
              <a:srgbClr val="7B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F290D347-D385-BA10-92BD-C70897E0749E}"/>
              </a:ext>
            </a:extLst>
          </p:cNvPr>
          <p:cNvCxnSpPr/>
          <p:nvPr/>
        </p:nvCxnSpPr>
        <p:spPr>
          <a:xfrm flipV="1">
            <a:off x="3131840" y="2157110"/>
            <a:ext cx="0" cy="360040"/>
          </a:xfrm>
          <a:prstGeom prst="straightConnector1">
            <a:avLst/>
          </a:prstGeom>
          <a:ln w="19050" cap="flat" cmpd="sng" algn="ctr">
            <a:solidFill>
              <a:srgbClr val="00CC00"/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6F7D11C0-E5D6-29BF-2D7C-497D4F2A16B3}"/>
              </a:ext>
            </a:extLst>
          </p:cNvPr>
          <p:cNvCxnSpPr/>
          <p:nvPr/>
        </p:nvCxnSpPr>
        <p:spPr>
          <a:xfrm flipV="1">
            <a:off x="2123728" y="1238006"/>
            <a:ext cx="0" cy="398911"/>
          </a:xfrm>
          <a:prstGeom prst="straightConnector1">
            <a:avLst/>
          </a:prstGeom>
          <a:ln w="19050" cap="flat" cmpd="sng" algn="ctr">
            <a:solidFill>
              <a:srgbClr val="D40000"/>
            </a:solidFill>
            <a:prstDash val="solid"/>
            <a:round/>
            <a:headEnd type="none" w="med" len="med"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Verbinder: gekrümmt 29">
            <a:extLst>
              <a:ext uri="{FF2B5EF4-FFF2-40B4-BE49-F238E27FC236}">
                <a16:creationId xmlns:a16="http://schemas.microsoft.com/office/drawing/2014/main" id="{3B3560D0-9E18-B52B-29CB-968CBBFF0156}"/>
              </a:ext>
            </a:extLst>
          </p:cNvPr>
          <p:cNvCxnSpPr>
            <a:cxnSpLocks/>
          </p:cNvCxnSpPr>
          <p:nvPr/>
        </p:nvCxnSpPr>
        <p:spPr>
          <a:xfrm rot="5400000">
            <a:off x="2530095" y="1819107"/>
            <a:ext cx="288032" cy="209142"/>
          </a:xfrm>
          <a:prstGeom prst="curvedConnector3">
            <a:avLst>
              <a:gd name="adj1" fmla="val 50000"/>
            </a:avLst>
          </a:prstGeom>
          <a:ln>
            <a:solidFill>
              <a:srgbClr val="7B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5CFBC051-6238-C395-ED80-050546D43191}"/>
              </a:ext>
            </a:extLst>
          </p:cNvPr>
          <p:cNvCxnSpPr/>
          <p:nvPr/>
        </p:nvCxnSpPr>
        <p:spPr>
          <a:xfrm flipV="1">
            <a:off x="359532" y="2157110"/>
            <a:ext cx="0" cy="360040"/>
          </a:xfrm>
          <a:prstGeom prst="straightConnector1">
            <a:avLst/>
          </a:prstGeom>
          <a:ln w="19050" cap="flat" cmpd="sng" algn="ctr">
            <a:solidFill>
              <a:srgbClr val="00CC00"/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Grafik 8" descr="Ein Bild, das Schrift, weiß, Typografie, Text enthält.&#10;&#10;KI-generierte Inhalte können fehlerhaft sein.">
            <a:extLst>
              <a:ext uri="{FF2B5EF4-FFF2-40B4-BE49-F238E27FC236}">
                <a16:creationId xmlns:a16="http://schemas.microsoft.com/office/drawing/2014/main" id="{A344DA27-09DE-99C4-6D37-0A6612DD8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10" y="2636172"/>
            <a:ext cx="2410997" cy="374550"/>
          </a:xfrm>
          <a:prstGeom prst="rect">
            <a:avLst/>
          </a:prstGeom>
        </p:spPr>
      </p:pic>
      <p:pic>
        <p:nvPicPr>
          <p:cNvPr id="10" name="Grafik 9" descr="Ein Bild, das Schrift, weiß, Symbol, Text enthält.&#10;&#10;KI-generierte Inhalte können fehlerhaft sein.">
            <a:extLst>
              <a:ext uri="{FF2B5EF4-FFF2-40B4-BE49-F238E27FC236}">
                <a16:creationId xmlns:a16="http://schemas.microsoft.com/office/drawing/2014/main" id="{764C13D1-E17D-F9B7-A520-23653D9D2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3119157"/>
            <a:ext cx="1490937" cy="289972"/>
          </a:xfrm>
          <a:prstGeom prst="rect">
            <a:avLst/>
          </a:prstGeom>
        </p:spPr>
      </p:pic>
      <p:pic>
        <p:nvPicPr>
          <p:cNvPr id="11" name="Grafik 10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E85C694E-1C42-83C6-B3E7-F3ABA92F6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4665" y="1422017"/>
            <a:ext cx="5357430" cy="227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0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5CFBB-BD42-7221-DBFE-1EB6F3AA7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CDCF15-F814-4D3C-493B-7A6FFB9F9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Outlook</a:t>
            </a:r>
          </a:p>
        </p:txBody>
      </p:sp>
      <p:pic>
        <p:nvPicPr>
          <p:cNvPr id="3" name="Grafik 2" descr="Ein Bild, das Text, Schrift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4FDAA927-3DEA-09C7-BABC-4A57B067A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134454"/>
            <a:ext cx="3777171" cy="3615913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6B16CF8-BF46-B20E-346A-850853161209}"/>
              </a:ext>
            </a:extLst>
          </p:cNvPr>
          <p:cNvSpPr txBox="1"/>
          <p:nvPr/>
        </p:nvSpPr>
        <p:spPr>
          <a:xfrm>
            <a:off x="7524328" y="4628624"/>
            <a:ext cx="14118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solidFill>
                  <a:schemeClr val="bg2"/>
                </a:solidFill>
              </a:rPr>
              <a:t>Dissertation Tobias S.</a:t>
            </a:r>
          </a:p>
        </p:txBody>
      </p:sp>
      <p:pic>
        <p:nvPicPr>
          <p:cNvPr id="5" name="Grafik 4" descr="Ein Bild, das Kreis, Diagramm, Reihe enthält.&#10;&#10;KI-generierte Inhalte können fehlerhaft sein.">
            <a:extLst>
              <a:ext uri="{FF2B5EF4-FFF2-40B4-BE49-F238E27FC236}">
                <a16:creationId xmlns:a16="http://schemas.microsoft.com/office/drawing/2014/main" id="{195D6952-0B9C-F14D-95F8-AA07425C6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08" y="1672003"/>
            <a:ext cx="2880321" cy="3092109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618D201-44C1-4E91-8EF9-52A048B091C3}"/>
              </a:ext>
            </a:extLst>
          </p:cNvPr>
          <p:cNvSpPr txBox="1"/>
          <p:nvPr/>
        </p:nvSpPr>
        <p:spPr>
          <a:xfrm>
            <a:off x="2530636" y="4443958"/>
            <a:ext cx="14118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solidFill>
                  <a:schemeClr val="bg2"/>
                </a:solidFill>
              </a:rPr>
              <a:t>Master-Thesis Moritz D.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0B8F66A-E4FE-E297-1C79-6CA383287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1193656"/>
            <a:ext cx="3923928" cy="43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25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A2CF6-5EE4-0939-C24C-3DF9F4263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F6B73A-A5D9-F8D3-7A91-AE6C7D81E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Outlook</a:t>
            </a:r>
          </a:p>
        </p:txBody>
      </p:sp>
      <p:pic>
        <p:nvPicPr>
          <p:cNvPr id="3" name="Grafik 2" descr="Ein Bild, das Maschine, Bautechnik, Elektrische Leitungen, Elektronik enthält.&#10;&#10;KI-generierte Inhalte können fehlerhaft sein.">
            <a:extLst>
              <a:ext uri="{FF2B5EF4-FFF2-40B4-BE49-F238E27FC236}">
                <a16:creationId xmlns:a16="http://schemas.microsoft.com/office/drawing/2014/main" id="{57E1498C-23BB-DBD6-7449-CADA99545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102661"/>
            <a:ext cx="5904656" cy="367412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81CDCE8F-E09F-371D-7C50-6DD6A497EC03}"/>
              </a:ext>
            </a:extLst>
          </p:cNvPr>
          <p:cNvSpPr txBox="1"/>
          <p:nvPr/>
        </p:nvSpPr>
        <p:spPr>
          <a:xfrm>
            <a:off x="7291488" y="4592122"/>
            <a:ext cx="100811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solidFill>
                  <a:schemeClr val="bg2"/>
                </a:solidFill>
              </a:rPr>
              <a:t>Master-Thesis, Jan L.</a:t>
            </a:r>
          </a:p>
        </p:txBody>
      </p:sp>
    </p:spTree>
    <p:extLst>
      <p:ext uri="{BB962C8B-B14F-4D97-AF65-F5344CB8AC3E}">
        <p14:creationId xmlns:p14="http://schemas.microsoft.com/office/powerpoint/2010/main" val="90750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FA524-57A0-493C-907A-E5CF3C67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6E4DFD-CBD2-0890-A3B8-9511EA683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Outlook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809F755-CAFA-816F-F4A1-D6689AD29AF8}"/>
              </a:ext>
            </a:extLst>
          </p:cNvPr>
          <p:cNvSpPr txBox="1"/>
          <p:nvPr/>
        </p:nvSpPr>
        <p:spPr>
          <a:xfrm>
            <a:off x="971600" y="4633049"/>
            <a:ext cx="14118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solidFill>
                  <a:schemeClr val="bg2"/>
                </a:solidFill>
              </a:rPr>
              <a:t>Bachelor-Thesis Carlo B.</a:t>
            </a:r>
          </a:p>
        </p:txBody>
      </p:sp>
      <p:pic>
        <p:nvPicPr>
          <p:cNvPr id="6" name="Grafik 5" descr="Ein Bild, das Text, Schrift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F8C225FD-C44A-0114-53DC-8E44BAE7F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1529459"/>
            <a:ext cx="2779302" cy="266064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9B94676-7ADD-8AAF-C2FA-0A781C850048}"/>
              </a:ext>
            </a:extLst>
          </p:cNvPr>
          <p:cNvSpPr txBox="1"/>
          <p:nvPr/>
        </p:nvSpPr>
        <p:spPr>
          <a:xfrm>
            <a:off x="4043199" y="4218510"/>
            <a:ext cx="14118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solidFill>
                  <a:schemeClr val="bg2"/>
                </a:solidFill>
              </a:rPr>
              <a:t>Dissertation Tobias S.</a:t>
            </a:r>
          </a:p>
        </p:txBody>
      </p:sp>
      <p:pic>
        <p:nvPicPr>
          <p:cNvPr id="5" name="Grafik 4" descr="Ein Bild, das Maschine, Bautechnik, Elektrische Leitungen, Elektronik enthält.&#10;&#10;KI-generierte Inhalte können fehlerhaft sein.">
            <a:extLst>
              <a:ext uri="{FF2B5EF4-FFF2-40B4-BE49-F238E27FC236}">
                <a16:creationId xmlns:a16="http://schemas.microsoft.com/office/drawing/2014/main" id="{F4AA8398-06DE-09FE-1E64-F2334B4E5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225" y="2866205"/>
            <a:ext cx="2905773" cy="180809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130519F-0B6D-6F84-ACB2-429417E79C4C}"/>
              </a:ext>
            </a:extLst>
          </p:cNvPr>
          <p:cNvSpPr txBox="1"/>
          <p:nvPr/>
        </p:nvSpPr>
        <p:spPr>
          <a:xfrm>
            <a:off x="7291488" y="4633049"/>
            <a:ext cx="100811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>
                <a:solidFill>
                  <a:schemeClr val="bg2"/>
                </a:solidFill>
              </a:rPr>
              <a:t>Master thesis</a:t>
            </a:r>
            <a:r>
              <a:rPr lang="de-DE" sz="600" dirty="0">
                <a:solidFill>
                  <a:schemeClr val="bg2"/>
                </a:solidFill>
              </a:rPr>
              <a:t>, Jan L.</a:t>
            </a:r>
          </a:p>
        </p:txBody>
      </p:sp>
    </p:spTree>
    <p:extLst>
      <p:ext uri="{BB962C8B-B14F-4D97-AF65-F5344CB8AC3E}">
        <p14:creationId xmlns:p14="http://schemas.microsoft.com/office/powerpoint/2010/main" val="2131358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4F1B5D-894B-32E9-8089-C6582EA2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attention</a:t>
            </a:r>
            <a:endParaRPr lang="de-DE" dirty="0"/>
          </a:p>
        </p:txBody>
      </p:sp>
      <p:pic>
        <p:nvPicPr>
          <p:cNvPr id="6" name="Grafik 5" descr="Ein Bild, das Kleidung, Person, draußen, Mann enthält.&#10;&#10;KI-generierte Inhalte können fehlerhaft sein.">
            <a:extLst>
              <a:ext uri="{FF2B5EF4-FFF2-40B4-BE49-F238E27FC236}">
                <a16:creationId xmlns:a16="http://schemas.microsoft.com/office/drawing/2014/main" id="{8280EF74-6EEF-FEC5-2AFC-9D4C71506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4" y="1106289"/>
            <a:ext cx="8764793" cy="367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93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3097F-06D1-AC32-AFCC-E1D29F9D5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6AEB95-6BD7-857F-38CE-E88C4314F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attention</a:t>
            </a:r>
            <a:endParaRPr lang="de-DE" dirty="0"/>
          </a:p>
        </p:txBody>
      </p:sp>
      <p:pic>
        <p:nvPicPr>
          <p:cNvPr id="6" name="Grafik 5" descr="Ein Bild, das Kleidung, Person, draußen, Mann enthält.&#10;&#10;KI-generierte Inhalte können fehlerhaft sein.">
            <a:extLst>
              <a:ext uri="{FF2B5EF4-FFF2-40B4-BE49-F238E27FC236}">
                <a16:creationId xmlns:a16="http://schemas.microsoft.com/office/drawing/2014/main" id="{35482C1F-16C0-81B6-A8A3-A0C72D4A1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4" y="1106289"/>
            <a:ext cx="8764793" cy="3670499"/>
          </a:xfrm>
          <a:prstGeom prst="rect">
            <a:avLst/>
          </a:prstGeom>
        </p:spPr>
      </p:pic>
      <p:pic>
        <p:nvPicPr>
          <p:cNvPr id="1026" name="Picture 2" descr="img.chefkoch-cdn.de/rezepte/1001811205419556/bilde...">
            <a:extLst>
              <a:ext uri="{FF2B5EF4-FFF2-40B4-BE49-F238E27FC236}">
                <a16:creationId xmlns:a16="http://schemas.microsoft.com/office/drawing/2014/main" id="{FC1AAEDF-4157-E103-9679-101F6C368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076">
            <a:off x="1574819" y="1254139"/>
            <a:ext cx="5994361" cy="3371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129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Schrift, Typografie, Text, weiß enthält.&#10;&#10;KI-generierte Inhalte können fehlerhaft sein.">
            <a:extLst>
              <a:ext uri="{FF2B5EF4-FFF2-40B4-BE49-F238E27FC236}">
                <a16:creationId xmlns:a16="http://schemas.microsoft.com/office/drawing/2014/main" id="{50DE3A93-BA00-9A5E-D2AF-481B4D881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029" y="1303950"/>
            <a:ext cx="1584176" cy="298538"/>
          </a:xfrm>
          <a:prstGeom prst="rect">
            <a:avLst/>
          </a:prstGeom>
        </p:spPr>
      </p:pic>
      <p:sp>
        <p:nvSpPr>
          <p:cNvPr id="21" name="Ellipse 20">
            <a:extLst>
              <a:ext uri="{FF2B5EF4-FFF2-40B4-BE49-F238E27FC236}">
                <a16:creationId xmlns:a16="http://schemas.microsoft.com/office/drawing/2014/main" id="{926F23C7-19DD-F5B8-0A92-24D67519E3E7}"/>
              </a:ext>
            </a:extLst>
          </p:cNvPr>
          <p:cNvSpPr/>
          <p:nvPr/>
        </p:nvSpPr>
        <p:spPr>
          <a:xfrm>
            <a:off x="3873463" y="1239436"/>
            <a:ext cx="1758955" cy="4144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02FA88-CBFA-8450-7DF2-BB036807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Initialization</a:t>
            </a:r>
            <a:r>
              <a:rPr lang="de-DE" dirty="0"/>
              <a:t> in a </a:t>
            </a:r>
            <a:r>
              <a:rPr lang="de-DE" dirty="0" err="1"/>
              <a:t>known</a:t>
            </a:r>
            <a:r>
              <a:rPr lang="de-DE" dirty="0"/>
              <a:t> </a:t>
            </a:r>
            <a:r>
              <a:rPr lang="de-DE" dirty="0" err="1"/>
              <a:t>state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35E7DA-7712-854C-8B9A-833721D607B3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Preparation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dark</a:t>
            </a:r>
            <a:r>
              <a:rPr lang="de-DE" dirty="0"/>
              <a:t> </a:t>
            </a:r>
            <a:r>
              <a:rPr lang="de-DE" dirty="0" err="1"/>
              <a:t>state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Pumping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coarse</a:t>
            </a:r>
            <a:r>
              <a:rPr lang="de-DE" dirty="0"/>
              <a:t> pump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Dissipative </a:t>
            </a:r>
            <a:r>
              <a:rPr lang="de-DE" dirty="0" err="1"/>
              <a:t>decay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Decay in </a:t>
            </a:r>
          </a:p>
          <a:p>
            <a:pPr marL="701675" lvl="2" indent="-342900">
              <a:buFont typeface="Arial" panose="020B0604020202020204" pitchFamily="34" charset="0"/>
              <a:buChar char="•"/>
            </a:pPr>
            <a:r>
              <a:rPr lang="de-DE" dirty="0" err="1"/>
              <a:t>Repump</a:t>
            </a:r>
            <a:r>
              <a:rPr lang="de-DE" dirty="0"/>
              <a:t> </a:t>
            </a:r>
            <a:r>
              <a:rPr lang="de-DE" dirty="0" err="1"/>
              <a:t>laser</a:t>
            </a:r>
            <a:endParaRPr lang="de-DE" dirty="0"/>
          </a:p>
        </p:txBody>
      </p:sp>
      <p:pic>
        <p:nvPicPr>
          <p:cNvPr id="5" name="Grafik 4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AFD665DF-C6DA-EC23-3333-556212254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171" y="2755383"/>
            <a:ext cx="6694756" cy="201452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AC85801-1DDA-4B8E-0897-3F0FC2703161}"/>
              </a:ext>
            </a:extLst>
          </p:cNvPr>
          <p:cNvSpPr txBox="1"/>
          <p:nvPr/>
        </p:nvSpPr>
        <p:spPr>
          <a:xfrm>
            <a:off x="7736005" y="4545431"/>
            <a:ext cx="14118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solidFill>
                  <a:schemeClr val="bg2"/>
                </a:solidFill>
              </a:rPr>
              <a:t>Bachelor-Thesis Carlo B.</a:t>
            </a:r>
          </a:p>
        </p:txBody>
      </p:sp>
      <p:pic>
        <p:nvPicPr>
          <p:cNvPr id="13" name="Grafik 12" descr="Ein Bild, das Schrift, weiß, Grafiken, Logo enthält.&#10;&#10;KI-generierte Inhalte können fehlerhaft sein.">
            <a:extLst>
              <a:ext uri="{FF2B5EF4-FFF2-40B4-BE49-F238E27FC236}">
                <a16:creationId xmlns:a16="http://schemas.microsoft.com/office/drawing/2014/main" id="{72D0ECA0-4B51-8EA4-E306-704DAAD64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5457" y="1714113"/>
            <a:ext cx="1334345" cy="350548"/>
          </a:xfrm>
          <a:prstGeom prst="rect">
            <a:avLst/>
          </a:prstGeom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2EDADFBF-47A6-0F41-0E28-A51A6402AAA4}"/>
              </a:ext>
            </a:extLst>
          </p:cNvPr>
          <p:cNvCxnSpPr/>
          <p:nvPr/>
        </p:nvCxnSpPr>
        <p:spPr>
          <a:xfrm flipV="1">
            <a:off x="3873463" y="1697959"/>
            <a:ext cx="0" cy="398911"/>
          </a:xfrm>
          <a:prstGeom prst="straightConnector1">
            <a:avLst/>
          </a:prstGeom>
          <a:ln w="19050" cap="flat" cmpd="sng" algn="ctr">
            <a:solidFill>
              <a:srgbClr val="D40000"/>
            </a:solidFill>
            <a:prstDash val="solid"/>
            <a:round/>
            <a:headEnd type="none" w="med" len="med"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ADD2401B-6010-BAED-D612-715FAEAE7797}"/>
              </a:ext>
            </a:extLst>
          </p:cNvPr>
          <p:cNvCxnSpPr/>
          <p:nvPr/>
        </p:nvCxnSpPr>
        <p:spPr>
          <a:xfrm flipV="1">
            <a:off x="395536" y="1674103"/>
            <a:ext cx="0" cy="398911"/>
          </a:xfrm>
          <a:prstGeom prst="straightConnector1">
            <a:avLst/>
          </a:prstGeom>
          <a:ln w="19050" cap="flat" cmpd="sng" algn="ctr">
            <a:solidFill>
              <a:srgbClr val="D40000"/>
            </a:solidFill>
            <a:prstDash val="solid"/>
            <a:round/>
            <a:headEnd type="none" w="med" len="med"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Verbinder: gekrümmt 15">
            <a:extLst>
              <a:ext uri="{FF2B5EF4-FFF2-40B4-BE49-F238E27FC236}">
                <a16:creationId xmlns:a16="http://schemas.microsoft.com/office/drawing/2014/main" id="{3A858295-00FB-6350-EBF6-DC8A1ECF8811}"/>
              </a:ext>
            </a:extLst>
          </p:cNvPr>
          <p:cNvCxnSpPr>
            <a:cxnSpLocks/>
          </p:cNvCxnSpPr>
          <p:nvPr/>
        </p:nvCxnSpPr>
        <p:spPr>
          <a:xfrm rot="5400000">
            <a:off x="2589023" y="2230513"/>
            <a:ext cx="288032" cy="209142"/>
          </a:xfrm>
          <a:prstGeom prst="curvedConnector3">
            <a:avLst>
              <a:gd name="adj1" fmla="val 50000"/>
            </a:avLst>
          </a:prstGeom>
          <a:ln>
            <a:solidFill>
              <a:srgbClr val="2E2EFB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Verbinder: gekrümmt 16">
            <a:extLst>
              <a:ext uri="{FF2B5EF4-FFF2-40B4-BE49-F238E27FC236}">
                <a16:creationId xmlns:a16="http://schemas.microsoft.com/office/drawing/2014/main" id="{053D1860-1E1A-1CC6-F8A1-C953B9DC41B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1519" y="2228899"/>
            <a:ext cx="288032" cy="240203"/>
          </a:xfrm>
          <a:prstGeom prst="curvedConnector3">
            <a:avLst>
              <a:gd name="adj1" fmla="val 50000"/>
            </a:avLst>
          </a:prstGeom>
          <a:ln>
            <a:solidFill>
              <a:srgbClr val="2E2EFB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 descr="Ein Bild, das Schrift, weiß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17594A4B-16E5-75C9-C18A-DB1B3D7F1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2643758"/>
            <a:ext cx="834499" cy="328044"/>
          </a:xfrm>
          <a:prstGeom prst="rect">
            <a:avLst/>
          </a:prstGeom>
        </p:spPr>
      </p:pic>
      <p:sp>
        <p:nvSpPr>
          <p:cNvPr id="22" name="Ellipse 21">
            <a:extLst>
              <a:ext uri="{FF2B5EF4-FFF2-40B4-BE49-F238E27FC236}">
                <a16:creationId xmlns:a16="http://schemas.microsoft.com/office/drawing/2014/main" id="{1E82427F-2FFD-E5BC-79B1-4114AB58EC6A}"/>
              </a:ext>
            </a:extLst>
          </p:cNvPr>
          <p:cNvSpPr/>
          <p:nvPr/>
        </p:nvSpPr>
        <p:spPr>
          <a:xfrm>
            <a:off x="3639153" y="4109040"/>
            <a:ext cx="234310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1859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1E86FC-FCF9-77F5-5995-D1A0624F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More</a:t>
            </a:r>
          </a:p>
        </p:txBody>
      </p:sp>
      <p:pic>
        <p:nvPicPr>
          <p:cNvPr id="5" name="Grafik 4" descr="Ein Bild, das Entwurf, Zeichnung, Diagramm, Lineart enthält.&#10;&#10;KI-generierte Inhalte können fehlerhaft sein.">
            <a:extLst>
              <a:ext uri="{FF2B5EF4-FFF2-40B4-BE49-F238E27FC236}">
                <a16:creationId xmlns:a16="http://schemas.microsoft.com/office/drawing/2014/main" id="{269974CB-FB3E-88E3-8C8F-26EEF7BF0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203598"/>
            <a:ext cx="8739350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913109"/>
      </p:ext>
    </p:extLst>
  </p:cSld>
  <p:clrMapOvr>
    <a:masterClrMapping/>
  </p:clrMapOvr>
</p:sld>
</file>

<file path=ppt/theme/theme1.xml><?xml version="1.0" encoding="utf-8"?>
<a:theme xmlns:a="http://schemas.openxmlformats.org/drawingml/2006/main" name="Präsentationsvorlage_BWL9">
  <a:themeElements>
    <a:clrScheme name="v1_TUD_Präsentation_r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1_TUD_Präsentation_r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1_TUD_Präsentation_r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Präsentationsvorlage_BWL9</Template>
  <TotalTime>0</TotalTime>
  <Words>338</Words>
  <Application>Microsoft Office PowerPoint</Application>
  <PresentationFormat>Bildschirmpräsentation (16:9)</PresentationFormat>
  <Paragraphs>90</Paragraphs>
  <Slides>10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Arial</vt:lpstr>
      <vt:lpstr>Bitstream Charter</vt:lpstr>
      <vt:lpstr>Cambria Math</vt:lpstr>
      <vt:lpstr>Stafford</vt:lpstr>
      <vt:lpstr>Tahoma</vt:lpstr>
      <vt:lpstr>Wingdings</vt:lpstr>
      <vt:lpstr>Präsentationsvorlage_BWL9</vt:lpstr>
      <vt:lpstr>Shaping of uniform intensity profiles for single-site addressing of (_^85)Rb atoms</vt:lpstr>
      <vt:lpstr>Motivation</vt:lpstr>
      <vt:lpstr>Raman-Assisted pumping</vt:lpstr>
      <vt:lpstr>Outlook</vt:lpstr>
      <vt:lpstr>Outlook</vt:lpstr>
      <vt:lpstr>Outlook</vt:lpstr>
      <vt:lpstr>Thank you for your attention</vt:lpstr>
      <vt:lpstr>Thank you for your attention</vt:lpstr>
      <vt:lpstr>Initialization in a known state</vt:lpstr>
      <vt:lpstr>More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Moritz Lohse</dc:creator>
  <cp:lastModifiedBy>Daniel Hagn</cp:lastModifiedBy>
  <cp:revision>101</cp:revision>
  <dcterms:created xsi:type="dcterms:W3CDTF">2009-12-23T09:42:49Z</dcterms:created>
  <dcterms:modified xsi:type="dcterms:W3CDTF">2026-10-18T16:08:05Z</dcterms:modified>
</cp:coreProperties>
</file>